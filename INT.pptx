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63C5-9D76-4B58-929A-9A66D0487E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92DF0-401E-46A6-BA16-3610222F4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97566-3981-4B73-8AE1-34994303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F4599-E848-4B9D-9416-01FC12BF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AB09F-BDFF-45A0-B34A-E161FAECB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18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ED1C-9708-4F20-B1EE-2690E56C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1937-DB4F-4C13-AACF-C3E1A097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40D82-AE47-4F81-8660-4F5F260D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3BF20-2C19-4712-9573-FC145C45B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0CA1-3E0C-4606-A2B9-03D31316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1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408B-6F7B-48C5-BA0D-E144560A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8917F-0274-4E12-8236-180311FE2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C160-7C10-491D-A36A-4384CDAF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A3339-07E4-4B6D-8553-7883509E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F64D8-2160-45DA-88F0-2C41F5D6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50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B073-0FBD-4318-88CB-576447F1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4CBE1-AE30-4ACD-9096-BBF6DC8C6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D5C4F-A99B-4911-A6D2-CA9EAD0A1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D5906-2200-4022-A4DB-03BCD1F9E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25A18-0A8B-477B-BE7B-C59A2C1B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B43A-78E1-4C05-8976-C8681802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8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DC25-DB8E-4DB6-9610-2FA6B0A0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61077-3E48-407B-98A5-9D8640B71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33C98-B294-448A-AD3E-14BD6C191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C2DFB-4494-4F32-B41C-B64C234B9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299BA-400A-4ED9-A3EB-17E129625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AF349-EF3A-434C-A801-82CA54F6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D31AD-E175-4246-BB48-024BD340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CAEA7-73E3-4E2C-BEAE-7E1F6003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3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E5D5-2EBD-4FA6-84EA-09DEF1BDA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80E81-5101-4431-9F64-6182A925B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90E23-0D37-400B-B1B2-4A6BD8DA6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B5B41-BB82-49FD-BCF7-3B33D151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78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941BF-C3CF-40D7-A87F-783CD3B9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BF5BD-3E2B-4F04-B370-8C9C649D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9BF23-8CAA-474E-8D5D-FF04AFB44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8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BB2C-DC9E-41B2-AE34-E55E5705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7BA10-FF04-4A2B-B7FC-B31AB1108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7F204-0BE1-4F4C-8E66-26A49AC57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31B7D-B5B8-4FBA-AAC1-79E1C456E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2EBE0-3196-43B3-AD10-16615BBE2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90196-A8D8-4B87-8F03-0BC235B7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7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3135-2031-4E9A-A4B6-37905C9B8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4E1EF7-F708-4A7F-9488-E66F76B06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8D72D-0145-4DBB-9673-A73ED994D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0760-B439-458B-9070-515CAF41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76C44-F501-4572-BA9F-3BE6392D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3A585-C764-4D2C-9B3F-C5E208D3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0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2331-CDAC-4A5A-B09D-2E415FC6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C8999-294A-4CC8-B821-C3EC05BC6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87199-33EC-4369-A364-78872A70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751E5-AB47-4130-9B19-746C472A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46525-DC90-478A-8C9D-8A7827A8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91A08F-F920-4643-8CDF-33A2A8ADC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1898D-04C4-4DBF-B703-F2410C168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F5D47-DA7A-402D-9C54-9CF8463C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CE4DC-21CD-42A3-83E4-DDDB4B15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601E-5ABE-45A9-BEED-5C07251C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0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93951-91ED-4033-866D-ED9A825C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85E29-F358-4D7A-B2B0-A7FE0B508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16623-4B90-42D5-BCCC-88D291B41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E865A-27AD-494F-BF25-7AAAE2F0BD46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7BF9F-B47E-4981-B6F8-F36B7630D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43A6D-40AF-456D-B29C-2BFFFEE8D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072B-26DD-4B67-BD1B-F1662B1F2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5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DC29C3-8ADE-491F-93D8-809B784C45E7}"/>
              </a:ext>
            </a:extLst>
          </p:cNvPr>
          <p:cNvSpPr txBox="1"/>
          <p:nvPr/>
        </p:nvSpPr>
        <p:spPr>
          <a:xfrm>
            <a:off x="2267527" y="2032275"/>
            <a:ext cx="3648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41542-7C85-4CB6-B8FD-DA4E16A0CEBE}"/>
              </a:ext>
            </a:extLst>
          </p:cNvPr>
          <p:cNvSpPr txBox="1"/>
          <p:nvPr/>
        </p:nvSpPr>
        <p:spPr>
          <a:xfrm>
            <a:off x="1648690" y="2930237"/>
            <a:ext cx="48860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400" dirty="0">
                <a:solidFill>
                  <a:schemeClr val="bg1"/>
                </a:solidFill>
                <a:cs typeface="2  Elham" panose="00000400000000000000" pitchFamily="2" charset="-78"/>
              </a:rPr>
              <a:t>توضیحات نوع داده عددی</a:t>
            </a:r>
            <a:endParaRPr lang="en-US" sz="4400" dirty="0">
              <a:solidFill>
                <a:schemeClr val="bg1"/>
              </a:solidFill>
              <a:cs typeface="2  Elham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C89A6-8411-424F-B228-EFFC9CC04E88}"/>
              </a:ext>
            </a:extLst>
          </p:cNvPr>
          <p:cNvSpPr txBox="1"/>
          <p:nvPr/>
        </p:nvSpPr>
        <p:spPr>
          <a:xfrm>
            <a:off x="3237344" y="3953240"/>
            <a:ext cx="1708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</a:rPr>
              <a:t>Integer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8DEF6-6206-4524-A87B-D8AC8564651A}"/>
              </a:ext>
            </a:extLst>
          </p:cNvPr>
          <p:cNvSpPr txBox="1"/>
          <p:nvPr/>
        </p:nvSpPr>
        <p:spPr>
          <a:xfrm>
            <a:off x="3038764" y="6273225"/>
            <a:ext cx="611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32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مانی احمدی ، آرشام رضاخانی ، حسن قربانی</a:t>
            </a:r>
            <a:endParaRPr lang="en-US" sz="3200" dirty="0">
              <a:solidFill>
                <a:schemeClr val="bg1"/>
              </a:solidFill>
              <a:latin typeface="A Hayat" panose="020B0800040000020004" pitchFamily="34" charset="-78"/>
              <a:ea typeface="A Hayat" panose="020B0800040000020004" pitchFamily="34" charset="-78"/>
              <a:cs typeface="A Hayat" panose="020B08000400000200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97516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B66A11-7647-4472-A6F6-0C3CF2264C2F}"/>
              </a:ext>
            </a:extLst>
          </p:cNvPr>
          <p:cNvSpPr txBox="1"/>
          <p:nvPr/>
        </p:nvSpPr>
        <p:spPr>
          <a:xfrm>
            <a:off x="5680363" y="1102012"/>
            <a:ext cx="345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cs typeface="Aban Bold" pitchFamily="2" charset="-78"/>
              </a:rPr>
              <a:t>توضیحات نوع داده </a:t>
            </a:r>
            <a:r>
              <a:rPr lang="en-US" sz="3200" dirty="0">
                <a:solidFill>
                  <a:schemeClr val="bg1"/>
                </a:solidFill>
                <a:cs typeface="Aban Bold" pitchFamily="2" charset="-78"/>
              </a:rPr>
              <a:t>Int</a:t>
            </a:r>
            <a:r>
              <a:rPr lang="fa-IR" sz="3200" dirty="0">
                <a:solidFill>
                  <a:schemeClr val="bg1"/>
                </a:solidFill>
                <a:cs typeface="Aban Bold" pitchFamily="2" charset="-78"/>
              </a:rPr>
              <a:t>:</a:t>
            </a:r>
            <a:endParaRPr lang="en-US" sz="3200" dirty="0">
              <a:solidFill>
                <a:schemeClr val="bg1"/>
              </a:solidFill>
              <a:cs typeface="Aban Bold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AB1DB-94B9-44A2-9295-1AE5C6E8282E}"/>
              </a:ext>
            </a:extLst>
          </p:cNvPr>
          <p:cNvSpPr txBox="1"/>
          <p:nvPr/>
        </p:nvSpPr>
        <p:spPr>
          <a:xfrm>
            <a:off x="1126836" y="2197887"/>
            <a:ext cx="4414982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cs typeface="Afra Light" pitchFamily="2" charset="-78"/>
              </a:rPr>
              <a:t>Int</a:t>
            </a:r>
            <a:r>
              <a:rPr lang="fa-IR" sz="2400" dirty="0">
                <a:solidFill>
                  <a:schemeClr val="bg1"/>
                </a:solidFill>
                <a:cs typeface="Afra Light" pitchFamily="2" charset="-78"/>
              </a:rPr>
              <a:t> کوچک شده کلمه </a:t>
            </a:r>
            <a:r>
              <a:rPr lang="en-US" sz="2400" dirty="0">
                <a:solidFill>
                  <a:schemeClr val="bg1"/>
                </a:solidFill>
                <a:cs typeface="Afra Light" pitchFamily="2" charset="-78"/>
              </a:rPr>
              <a:t>Integer</a:t>
            </a:r>
            <a:r>
              <a:rPr lang="fa-IR" sz="2400" dirty="0">
                <a:solidFill>
                  <a:schemeClr val="bg1"/>
                </a:solidFill>
                <a:cs typeface="Afra Light" pitchFamily="2" charset="-78"/>
              </a:rPr>
              <a:t> است.</a:t>
            </a:r>
          </a:p>
          <a:p>
            <a:pPr marL="285750" indent="-285750" algn="r" rtl="1"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fa-IR" sz="2400" dirty="0">
                <a:solidFill>
                  <a:schemeClr val="bg1"/>
                </a:solidFill>
                <a:cs typeface="Afra Light" pitchFamily="2" charset="-78"/>
              </a:rPr>
              <a:t>توانایی ذخیره اعداد صحیح در خود را دارد.</a:t>
            </a:r>
          </a:p>
          <a:p>
            <a:pPr marL="285750" indent="-28575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400" dirty="0">
                <a:solidFill>
                  <a:schemeClr val="bg1"/>
                </a:solidFill>
                <a:cs typeface="Afra Light" pitchFamily="2" charset="-78"/>
              </a:rPr>
              <a:t>اعداد اعشاری را ذخیره نمیکنند.</a:t>
            </a:r>
          </a:p>
          <a:p>
            <a:pPr marL="285750" indent="-285750" algn="r" rtl="1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fa-IR" sz="2400" dirty="0">
                <a:solidFill>
                  <a:schemeClr val="bg1"/>
                </a:solidFill>
                <a:cs typeface="Afra Light" pitchFamily="2" charset="-78"/>
              </a:rPr>
              <a:t>این نوع داده عددی است.</a:t>
            </a:r>
          </a:p>
        </p:txBody>
      </p:sp>
    </p:spTree>
    <p:extLst>
      <p:ext uri="{BB962C8B-B14F-4D97-AF65-F5344CB8AC3E}">
        <p14:creationId xmlns:p14="http://schemas.microsoft.com/office/powerpoint/2010/main" val="360274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6200E3-987F-42FE-A175-A1F92E47B83B}"/>
              </a:ext>
            </a:extLst>
          </p:cNvPr>
          <p:cNvSpPr txBox="1"/>
          <p:nvPr/>
        </p:nvSpPr>
        <p:spPr>
          <a:xfrm>
            <a:off x="4405746" y="2382982"/>
            <a:ext cx="307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داده </a:t>
            </a:r>
            <a:r>
              <a:rPr lang="en-US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Int</a:t>
            </a:r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 در زبان </a:t>
            </a:r>
            <a:r>
              <a:rPr lang="en-US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SQL</a:t>
            </a:r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:</a:t>
            </a:r>
            <a:endParaRPr lang="en-US" sz="3600" dirty="0">
              <a:solidFill>
                <a:schemeClr val="bg1"/>
              </a:solidFill>
              <a:latin typeface="A Hayat" panose="020B0800040000020004" pitchFamily="34" charset="-78"/>
              <a:ea typeface="A Hayat" panose="020B0800040000020004" pitchFamily="34" charset="-78"/>
              <a:cs typeface="A Hayat" panose="020B0800040000020004" pitchFamily="34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A80EC-85CA-48ED-9247-64A96C218E06}"/>
              </a:ext>
            </a:extLst>
          </p:cNvPr>
          <p:cNvSpPr txBox="1"/>
          <p:nvPr/>
        </p:nvSpPr>
        <p:spPr>
          <a:xfrm>
            <a:off x="942110" y="2244482"/>
            <a:ext cx="3463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0" i="0" dirty="0">
                <a:solidFill>
                  <a:schemeClr val="bg1"/>
                </a:solidFill>
                <a:effectLst/>
                <a:latin typeface="BYekan"/>
                <a:cs typeface="Aban Bold" pitchFamily="2" charset="-78"/>
              </a:rPr>
              <a:t>یک عدد چهار بایتی است که می‌تواند اعداد بین مثبت و منفی ۲ میلیارد را در خود ذخیره کند.</a:t>
            </a:r>
            <a:endParaRPr lang="en-US" dirty="0">
              <a:solidFill>
                <a:schemeClr val="bg1"/>
              </a:solidFill>
              <a:cs typeface="Aban Bold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2E9B6-757B-49B9-A6E8-202F093D6DA2}"/>
              </a:ext>
            </a:extLst>
          </p:cNvPr>
          <p:cNvSpPr txBox="1"/>
          <p:nvPr/>
        </p:nvSpPr>
        <p:spPr>
          <a:xfrm>
            <a:off x="4405745" y="3953164"/>
            <a:ext cx="3075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داده </a:t>
            </a:r>
            <a:r>
              <a:rPr lang="en-US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Int</a:t>
            </a:r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 در زبان </a:t>
            </a:r>
            <a:r>
              <a:rPr lang="en-US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C++</a:t>
            </a:r>
            <a:r>
              <a:rPr lang="fa-IR" sz="3600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:</a:t>
            </a:r>
            <a:endParaRPr lang="en-US" sz="3600" dirty="0">
              <a:solidFill>
                <a:schemeClr val="bg1"/>
              </a:solidFill>
              <a:latin typeface="A Hayat" panose="020B0800040000020004" pitchFamily="34" charset="-78"/>
              <a:ea typeface="A Hayat" panose="020B0800040000020004" pitchFamily="34" charset="-78"/>
              <a:cs typeface="A Hayat" panose="020B0800040000020004" pitchFamily="34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402C4-27C3-4A3D-9734-B786E1D12504}"/>
              </a:ext>
            </a:extLst>
          </p:cNvPr>
          <p:cNvSpPr txBox="1"/>
          <p:nvPr/>
        </p:nvSpPr>
        <p:spPr>
          <a:xfrm>
            <a:off x="942109" y="3814664"/>
            <a:ext cx="3463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عددی است که از 32 بیت استفاده میکند و اعداد </a:t>
            </a:r>
            <a:r>
              <a:rPr lang="en-US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+2,147,483,647</a:t>
            </a:r>
            <a:r>
              <a:rPr lang="fa-IR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 تا </a:t>
            </a:r>
            <a:r>
              <a:rPr lang="en-US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-2,147,483,647</a:t>
            </a:r>
            <a:r>
              <a:rPr lang="fa-IR" dirty="0">
                <a:solidFill>
                  <a:schemeClr val="bg1"/>
                </a:solidFill>
                <a:latin typeface="A Hayat" panose="020B0800040000020004" pitchFamily="34" charset="-78"/>
                <a:ea typeface="A Hayat" panose="020B0800040000020004" pitchFamily="34" charset="-78"/>
                <a:cs typeface="A Hayat" panose="020B0800040000020004" pitchFamily="34" charset="-78"/>
              </a:rPr>
              <a:t> را در خود ذخیره میکند.</a:t>
            </a:r>
            <a:endParaRPr lang="en-US" dirty="0">
              <a:solidFill>
                <a:schemeClr val="bg1"/>
              </a:solidFill>
              <a:latin typeface="A Hayat" panose="020B0800040000020004" pitchFamily="34" charset="-78"/>
              <a:ea typeface="A Hayat" panose="020B0800040000020004" pitchFamily="34" charset="-78"/>
              <a:cs typeface="A Hayat" panose="020B08000400000200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206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Microsoft JhengHei UI Light</vt:lpstr>
      <vt:lpstr>A Hayat</vt:lpstr>
      <vt:lpstr>Arial</vt:lpstr>
      <vt:lpstr>BYekan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 Ahmadi</dc:creator>
  <cp:lastModifiedBy>Mani Ahmadi</cp:lastModifiedBy>
  <cp:revision>1</cp:revision>
  <dcterms:created xsi:type="dcterms:W3CDTF">2022-04-10T00:00:34Z</dcterms:created>
  <dcterms:modified xsi:type="dcterms:W3CDTF">2022-04-10T00:00:47Z</dcterms:modified>
</cp:coreProperties>
</file>